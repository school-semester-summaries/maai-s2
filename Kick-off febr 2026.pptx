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429" r:id="rId3"/>
    <p:sldId id="430" r:id="rId4"/>
    <p:sldId id="436" r:id="rId5"/>
    <p:sldId id="437" r:id="rId6"/>
  </p:sldIdLst>
  <p:sldSz cx="9144000" cy="6858000" type="screen4x3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es Van Montfort" initials="KVM" lastIdx="5" clrIdx="0">
    <p:extLst>
      <p:ext uri="{19B8F6BF-5375-455C-9EA6-DF929625EA0E}">
        <p15:presenceInfo xmlns:p15="http://schemas.microsoft.com/office/powerpoint/2012/main" userId="69f2a97d506731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16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7B5BD7-DE7C-465E-9622-D960FA6EF2CF}" v="1" dt="2026-01-30T14:00:19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36" autoAdjust="0"/>
    <p:restoredTop sz="93949" autoAdjust="0"/>
  </p:normalViewPr>
  <p:slideViewPr>
    <p:cSldViewPr snapToGrid="0" snapToObjects="1" showGuides="1">
      <p:cViewPr varScale="1">
        <p:scale>
          <a:sx n="59" d="100"/>
          <a:sy n="59" d="100"/>
        </p:scale>
        <p:origin x="12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s van Montfort" userId="f7b63a81-fe5c-4806-9f86-14ad0a4d19d9" providerId="ADAL" clId="{87339C15-1BCD-4474-9DEA-91FB559267E4}"/>
    <pc:docChg chg="undo redo custSel addSld delSld modSld">
      <pc:chgData name="Kees van Montfort" userId="f7b63a81-fe5c-4806-9f86-14ad0a4d19d9" providerId="ADAL" clId="{87339C15-1BCD-4474-9DEA-91FB559267E4}" dt="2026-02-03T13:05:38.689" v="154" actId="20577"/>
      <pc:docMkLst>
        <pc:docMk/>
      </pc:docMkLst>
      <pc:sldChg chg="modSp mod">
        <pc:chgData name="Kees van Montfort" userId="f7b63a81-fe5c-4806-9f86-14ad0a4d19d9" providerId="ADAL" clId="{87339C15-1BCD-4474-9DEA-91FB559267E4}" dt="2026-02-03T13:05:38.689" v="154" actId="20577"/>
        <pc:sldMkLst>
          <pc:docMk/>
          <pc:sldMk cId="1905085635" sldId="429"/>
        </pc:sldMkLst>
        <pc:spChg chg="mod">
          <ac:chgData name="Kees van Montfort" userId="f7b63a81-fe5c-4806-9f86-14ad0a4d19d9" providerId="ADAL" clId="{87339C15-1BCD-4474-9DEA-91FB559267E4}" dt="2026-02-03T13:05:38.689" v="154" actId="20577"/>
          <ac:spMkLst>
            <pc:docMk/>
            <pc:sldMk cId="1905085635" sldId="429"/>
            <ac:spMk id="6" creationId="{0ED52C2E-93AE-469D-9FF3-E2BDF47FAC8A}"/>
          </ac:spMkLst>
        </pc:spChg>
      </pc:sldChg>
      <pc:sldChg chg="modSp mod">
        <pc:chgData name="Kees van Montfort" userId="f7b63a81-fe5c-4806-9f86-14ad0a4d19d9" providerId="ADAL" clId="{87339C15-1BCD-4474-9DEA-91FB559267E4}" dt="2026-01-30T14:01:18.197" v="81" actId="20577"/>
        <pc:sldMkLst>
          <pc:docMk/>
          <pc:sldMk cId="2386342041" sldId="430"/>
        </pc:sldMkLst>
        <pc:spChg chg="mod">
          <ac:chgData name="Kees van Montfort" userId="f7b63a81-fe5c-4806-9f86-14ad0a4d19d9" providerId="ADAL" clId="{87339C15-1BCD-4474-9DEA-91FB559267E4}" dt="2026-01-30T14:00:12.700" v="76" actId="6549"/>
          <ac:spMkLst>
            <pc:docMk/>
            <pc:sldMk cId="2386342041" sldId="430"/>
            <ac:spMk id="5" creationId="{BACC6D93-C208-4790-8944-A305A594AFF7}"/>
          </ac:spMkLst>
        </pc:spChg>
        <pc:spChg chg="mod">
          <ac:chgData name="Kees van Montfort" userId="f7b63a81-fe5c-4806-9f86-14ad0a4d19d9" providerId="ADAL" clId="{87339C15-1BCD-4474-9DEA-91FB559267E4}" dt="2026-01-30T14:01:18.197" v="81" actId="20577"/>
          <ac:spMkLst>
            <pc:docMk/>
            <pc:sldMk cId="2386342041" sldId="430"/>
            <ac:spMk id="6" creationId="{0ED52C2E-93AE-469D-9FF3-E2BDF47FAC8A}"/>
          </ac:spMkLst>
        </pc:spChg>
      </pc:sldChg>
      <pc:sldChg chg="modSp add mod">
        <pc:chgData name="Kees van Montfort" userId="f7b63a81-fe5c-4806-9f86-14ad0a4d19d9" providerId="ADAL" clId="{87339C15-1BCD-4474-9DEA-91FB559267E4}" dt="2026-01-30T14:02:56.598" v="88" actId="6549"/>
        <pc:sldMkLst>
          <pc:docMk/>
          <pc:sldMk cId="2458504685" sldId="436"/>
        </pc:sldMkLst>
        <pc:spChg chg="mod">
          <ac:chgData name="Kees van Montfort" userId="f7b63a81-fe5c-4806-9f86-14ad0a4d19d9" providerId="ADAL" clId="{87339C15-1BCD-4474-9DEA-91FB559267E4}" dt="2026-01-30T14:02:56.598" v="88" actId="6549"/>
          <ac:spMkLst>
            <pc:docMk/>
            <pc:sldMk cId="2458504685" sldId="436"/>
            <ac:spMk id="6" creationId="{8BBD7444-8381-9DCC-1558-EF2C72046C68}"/>
          </ac:spMkLst>
        </pc:spChg>
      </pc:sldChg>
      <pc:sldChg chg="modSp add mod">
        <pc:chgData name="Kees van Montfort" userId="f7b63a81-fe5c-4806-9f86-14ad0a4d19d9" providerId="ADAL" clId="{87339C15-1BCD-4474-9DEA-91FB559267E4}" dt="2026-01-30T14:03:46.953" v="95" actId="6549"/>
        <pc:sldMkLst>
          <pc:docMk/>
          <pc:sldMk cId="2257127467" sldId="437"/>
        </pc:sldMkLst>
        <pc:spChg chg="mod">
          <ac:chgData name="Kees van Montfort" userId="f7b63a81-fe5c-4806-9f86-14ad0a4d19d9" providerId="ADAL" clId="{87339C15-1BCD-4474-9DEA-91FB559267E4}" dt="2026-01-30T14:03:46.953" v="95" actId="6549"/>
          <ac:spMkLst>
            <pc:docMk/>
            <pc:sldMk cId="2257127467" sldId="437"/>
            <ac:spMk id="6" creationId="{D2FF0BC0-070A-C85B-FE0C-FF8A899F53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0F50E-D39E-BA44-9CF3-C0057C3C68D2}" type="datetimeFigureOut">
              <a:rPr lang="nl-NL" smtClean="0"/>
              <a:pPr/>
              <a:t>3-2-2026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B1CAD-8361-8B4C-B2B4-B15C635E25F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90233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9A03D-4BBC-3940-AA6B-EF94720E326D}" type="datetimeFigureOut">
              <a:rPr lang="nl-NL" smtClean="0"/>
              <a:pPr/>
              <a:t>3-2-2026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FEC5F-7B76-F840-A964-FE403E4914D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41009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FEC5F-7B76-F840-A964-FE403E4914DA}" type="slidenum">
              <a:rPr lang="nl-NL" smtClean="0"/>
              <a:pPr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6470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22980" y="1156059"/>
            <a:ext cx="7772400" cy="1470025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533077" y="3047677"/>
            <a:ext cx="6012016" cy="941544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KLIK OM DE TITELSTIJL VAN HET MODEL TE BEWERKEN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516455" y="6490066"/>
            <a:ext cx="627545" cy="365125"/>
          </a:xfrm>
        </p:spPr>
        <p:txBody>
          <a:bodyPr/>
          <a:lstStyle/>
          <a:p>
            <a:fld id="{6089C96C-E207-3045-87EB-0DA2E1373F9B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eldia met fot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8093" y="1266582"/>
            <a:ext cx="7772400" cy="1362075"/>
          </a:xfrm>
        </p:spPr>
        <p:txBody>
          <a:bodyPr anchor="b" anchorCtr="0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518093" y="2659949"/>
            <a:ext cx="7772400" cy="1500187"/>
          </a:xfrm>
        </p:spPr>
        <p:txBody>
          <a:bodyPr tIns="0" anchor="t" anchorCtr="0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KLIK OM DE TEKSTSTIJL VAN HET MODEL TE BEWERKEN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516455" y="6490066"/>
            <a:ext cx="627545" cy="365125"/>
          </a:xfrm>
        </p:spPr>
        <p:txBody>
          <a:bodyPr/>
          <a:lstStyle/>
          <a:p>
            <a:fld id="{6089C96C-E207-3045-87EB-0DA2E1373F9B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47456"/>
            <a:ext cx="8229600" cy="4774360"/>
          </a:xfrm>
        </p:spPr>
        <p:txBody>
          <a:bodyPr>
            <a:normAutofit/>
          </a:bodyPr>
          <a:lstStyle>
            <a:lvl1pPr marL="177800" marR="0" indent="-1778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1pPr>
            <a:lvl2pPr marL="273050" marR="0" indent="-190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/>
            </a:lvl2pPr>
            <a:lvl3pPr marL="534988" marR="0" indent="-179388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 sz="2000"/>
            </a:lvl3pPr>
            <a:lvl4pPr marL="808038" marR="0" indent="-179388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800"/>
            </a:lvl4pPr>
            <a:lvl5pPr marL="1163638" marR="0" indent="-1778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457200" y="1647456"/>
            <a:ext cx="4038600" cy="4774360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1pPr>
            <a:lvl2pPr marL="273050" marR="0" indent="-190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800"/>
            </a:lvl2pPr>
            <a:lvl3pPr marL="534988" marR="0" indent="-179388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600"/>
            </a:lvl3pPr>
            <a:lvl4pPr marL="903288" marR="0" indent="-190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/>
            </a:lvl4pPr>
            <a:lvl5pPr marL="1258888" marR="0" indent="-1778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KLIK OM DE TEKSTSTIJL VAN HET MODEL TE BEWERKEN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inhoud 2"/>
          <p:cNvSpPr>
            <a:spLocks noGrp="1"/>
          </p:cNvSpPr>
          <p:nvPr>
            <p:ph sz="half" idx="13" hasCustomPrompt="1"/>
          </p:nvPr>
        </p:nvSpPr>
        <p:spPr>
          <a:xfrm>
            <a:off x="4648200" y="1647456"/>
            <a:ext cx="4038600" cy="4774360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1pPr>
            <a:lvl2pPr marL="273050" marR="0" indent="-190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800"/>
            </a:lvl2pPr>
            <a:lvl3pPr marL="534988" marR="0" indent="-179388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600"/>
            </a:lvl3pPr>
            <a:lvl4pPr marL="903288" marR="0" indent="-1905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/>
            </a:lvl4pPr>
            <a:lvl5pPr marL="1258888" marR="0" indent="-1778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KLIK OM DE TEKSTSTIJL VAN HET MODEL TE BEWERKEN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69836" y="2055235"/>
            <a:ext cx="8229600" cy="1143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 bright="13000" contrast="-13000"/>
          </a:blip>
          <a:srcRect/>
          <a:stretch>
            <a:fillRect t="-3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44508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Titelstijl</a:t>
            </a:r>
            <a:r>
              <a:rPr lang="en-US" dirty="0"/>
              <a:t> van model </a:t>
            </a:r>
            <a:r>
              <a:rPr lang="en-US" dirty="0" err="1"/>
              <a:t>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47456"/>
            <a:ext cx="8229600" cy="4774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de </a:t>
            </a:r>
            <a:r>
              <a:rPr lang="en-US" dirty="0" err="1"/>
              <a:t>stijl</a:t>
            </a:r>
            <a:r>
              <a:rPr lang="en-US" dirty="0"/>
              <a:t> te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57200" y="642181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254632" y="6243691"/>
            <a:ext cx="627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6089C96C-E207-3045-87EB-0DA2E1373F9B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4" r:id="rId5"/>
    <p:sldLayoutId id="2147483656" r:id="rId6"/>
    <p:sldLayoutId id="2147483655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 cap="none" baseline="0">
          <a:solidFill>
            <a:srgbClr val="25167A"/>
          </a:solidFill>
          <a:latin typeface="Arial"/>
          <a:ea typeface="+mj-ea"/>
          <a:cs typeface="Arial"/>
        </a:defRPr>
      </a:lvl1pPr>
    </p:titleStyle>
    <p:bodyStyle>
      <a:lvl1pPr marL="273050" indent="-27305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273050" indent="-1905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534988" indent="-179388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903288" indent="-1905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1258888" indent="-1778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518092" y="1266582"/>
            <a:ext cx="8239541" cy="935197"/>
          </a:xfrm>
        </p:spPr>
        <p:txBody>
          <a:bodyPr>
            <a:normAutofit fontScale="90000"/>
          </a:bodyPr>
          <a:lstStyle/>
          <a:p>
            <a:r>
              <a:rPr lang="nl-NL" dirty="0"/>
              <a:t>Financial </a:t>
            </a:r>
            <a:r>
              <a:rPr lang="nl-NL" dirty="0" err="1"/>
              <a:t>Innovation</a:t>
            </a:r>
            <a:r>
              <a:rPr lang="nl-NL" dirty="0"/>
              <a:t> Lab</a:t>
            </a:r>
            <a:br>
              <a:rPr lang="nl-NL" dirty="0"/>
            </a:br>
            <a:br>
              <a:rPr lang="nl-NL" dirty="0"/>
            </a:br>
            <a:r>
              <a:rPr lang="nl-NL" dirty="0">
                <a:solidFill>
                  <a:srgbClr val="FF0000"/>
                </a:solidFill>
              </a:rPr>
              <a:t>Kick-off 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idx="1"/>
          </p:nvPr>
        </p:nvSpPr>
        <p:spPr>
          <a:xfrm>
            <a:off x="518092" y="2863516"/>
            <a:ext cx="4855766" cy="3156284"/>
          </a:xfrm>
        </p:spPr>
        <p:txBody>
          <a:bodyPr>
            <a:noAutofit/>
          </a:bodyPr>
          <a:lstStyle/>
          <a:p>
            <a:endParaRPr lang="nl-NL" sz="1800" dirty="0"/>
          </a:p>
          <a:p>
            <a:pPr>
              <a:tabLst>
                <a:tab pos="801688" algn="l"/>
              </a:tabLst>
            </a:pPr>
            <a:r>
              <a:rPr lang="nl-NL" sz="1800" dirty="0">
                <a:solidFill>
                  <a:schemeClr val="tx1"/>
                </a:solidFill>
              </a:rPr>
              <a:t>Docenten	</a:t>
            </a:r>
          </a:p>
          <a:p>
            <a:pPr>
              <a:tabLst>
                <a:tab pos="801688" algn="l"/>
              </a:tabLst>
            </a:pPr>
            <a:endParaRPr lang="nl-NL" sz="1800" dirty="0">
              <a:solidFill>
                <a:schemeClr val="tx1"/>
              </a:solidFill>
            </a:endParaRPr>
          </a:p>
          <a:p>
            <a:pPr>
              <a:tabLst>
                <a:tab pos="801688" algn="l"/>
              </a:tabLst>
            </a:pPr>
            <a:r>
              <a:rPr lang="nl-NL" sz="1800" dirty="0">
                <a:solidFill>
                  <a:schemeClr val="tx1"/>
                </a:solidFill>
              </a:rPr>
              <a:t>Kees van Montfort</a:t>
            </a:r>
          </a:p>
          <a:p>
            <a:pPr>
              <a:tabLst>
                <a:tab pos="801688" algn="l"/>
              </a:tabLst>
            </a:pPr>
            <a:r>
              <a:rPr lang="nl-NL" sz="1800" dirty="0">
                <a:solidFill>
                  <a:schemeClr val="tx1"/>
                </a:solidFill>
              </a:rPr>
              <a:t>	c.a.g.m.van.montfort@hva.nl </a:t>
            </a:r>
          </a:p>
          <a:p>
            <a:pPr>
              <a:tabLst>
                <a:tab pos="801688" algn="l"/>
              </a:tabLst>
            </a:pPr>
            <a:r>
              <a:rPr lang="nl-NL" sz="1800" dirty="0">
                <a:solidFill>
                  <a:schemeClr val="tx1"/>
                </a:solidFill>
              </a:rPr>
              <a:t>Gert de Jong </a:t>
            </a:r>
          </a:p>
          <a:p>
            <a:pPr>
              <a:tabLst>
                <a:tab pos="801688" algn="l"/>
              </a:tabLst>
            </a:pPr>
            <a:r>
              <a:rPr lang="nl-NL" sz="1800" dirty="0">
                <a:solidFill>
                  <a:schemeClr val="tx1"/>
                </a:solidFill>
              </a:rPr>
              <a:t>	g.p.de.jong@hva.nl</a:t>
            </a:r>
            <a:endParaRPr lang="nl-NL" sz="1800" u="sng" dirty="0">
              <a:solidFill>
                <a:schemeClr val="tx1"/>
              </a:solidFill>
            </a:endParaRPr>
          </a:p>
          <a:p>
            <a:pPr>
              <a:tabLst>
                <a:tab pos="801688" algn="l"/>
              </a:tabLst>
            </a:pPr>
            <a:r>
              <a:rPr lang="nl-NL" sz="1800" dirty="0">
                <a:solidFill>
                  <a:schemeClr val="tx1"/>
                </a:solidFill>
              </a:rPr>
              <a:t>Michiel Bontenbal</a:t>
            </a:r>
          </a:p>
          <a:p>
            <a:pPr>
              <a:tabLst>
                <a:tab pos="801688" algn="l"/>
              </a:tabLst>
            </a:pPr>
            <a:r>
              <a:rPr lang="nl-NL" sz="1800" dirty="0">
                <a:solidFill>
                  <a:schemeClr val="tx1"/>
                </a:solidFill>
              </a:rPr>
              <a:t>	m.p.bontenbal@hva.nl</a:t>
            </a:r>
          </a:p>
          <a:p>
            <a:pPr>
              <a:tabLst>
                <a:tab pos="801688" algn="l"/>
              </a:tabLst>
            </a:pPr>
            <a:r>
              <a:rPr lang="nl-NL" sz="180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1</a:t>
            </a:fld>
            <a:endParaRPr lang="nl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ACC6D93-C208-4790-8944-A305A594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nl-NL" dirty="0" err="1"/>
              <a:t>pzet</a:t>
            </a:r>
            <a:r>
              <a:rPr lang="nl-NL" dirty="0"/>
              <a:t> 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9D54645-7056-4681-8ABD-92D332F1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ED52C2E-93AE-469D-9FF3-E2BDF47FA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59568"/>
            <a:ext cx="8229600" cy="506224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endParaRPr lang="nl-NL" sz="16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sz="1600" dirty="0"/>
          </a:p>
          <a:p>
            <a:r>
              <a:rPr lang="en-US" dirty="0">
                <a:solidFill>
                  <a:srgbClr val="FF0000"/>
                </a:solidFill>
              </a:rPr>
              <a:t>Plan van </a:t>
            </a:r>
            <a:r>
              <a:rPr lang="en-US" dirty="0" err="1">
                <a:solidFill>
                  <a:srgbClr val="FF0000"/>
                </a:solidFill>
              </a:rPr>
              <a:t>Aanpak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voor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afstudeeropdracht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(Gast)colleges over Anti Money Laundering en Credit Risk.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Gastcolleges</a:t>
            </a:r>
            <a:r>
              <a:rPr lang="en-US" dirty="0">
                <a:solidFill>
                  <a:srgbClr val="FF0000"/>
                </a:solidFill>
              </a:rPr>
              <a:t> over AI-</a:t>
            </a:r>
            <a:r>
              <a:rPr lang="en-US" dirty="0" err="1">
                <a:solidFill>
                  <a:srgbClr val="FF0000"/>
                </a:solidFill>
              </a:rPr>
              <a:t>modellen</a:t>
            </a:r>
            <a:r>
              <a:rPr lang="en-US" dirty="0">
                <a:solidFill>
                  <a:srgbClr val="FF0000"/>
                </a:solidFill>
              </a:rPr>
              <a:t> in de </a:t>
            </a:r>
            <a:r>
              <a:rPr lang="en-US" dirty="0" err="1">
                <a:solidFill>
                  <a:srgbClr val="FF0000"/>
                </a:solidFill>
              </a:rPr>
              <a:t>bancaire</a:t>
            </a:r>
            <a:r>
              <a:rPr lang="en-US" dirty="0">
                <a:solidFill>
                  <a:srgbClr val="FF0000"/>
                </a:solidFill>
              </a:rPr>
              <a:t> en accountancy sector: ING, ABN AMRO en RABO bank.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Geen casus-</a:t>
            </a:r>
            <a:r>
              <a:rPr lang="en-US" dirty="0" err="1">
                <a:solidFill>
                  <a:srgbClr val="FF0000"/>
                </a:solidFill>
              </a:rPr>
              <a:t>opdracht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Lijst</a:t>
            </a:r>
            <a:r>
              <a:rPr lang="en-US" dirty="0">
                <a:solidFill>
                  <a:srgbClr val="FF0000"/>
                </a:solidFill>
              </a:rPr>
              <a:t> met </a:t>
            </a:r>
            <a:r>
              <a:rPr lang="en-US" dirty="0" err="1">
                <a:solidFill>
                  <a:srgbClr val="FF0000"/>
                </a:solidFill>
              </a:rPr>
              <a:t>onderzoeksonderwerpen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nl-NL" dirty="0">
              <a:solidFill>
                <a:srgbClr val="FF0000"/>
              </a:solidFill>
            </a:endParaRPr>
          </a:p>
          <a:p>
            <a:r>
              <a:rPr lang="nl-NL" sz="1600" dirty="0">
                <a:solidFill>
                  <a:srgbClr val="FF0000"/>
                </a:solidFill>
              </a:rPr>
              <a:t>		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190508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ACC6D93-C208-4790-8944-A305A594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Programma</a:t>
            </a:r>
            <a:r>
              <a:rPr lang="nl-NL" dirty="0"/>
              <a:t> 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9D54645-7056-4681-8ABD-92D332F1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ED52C2E-93AE-469D-9FF3-E2BDF47FA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59568"/>
            <a:ext cx="8229600" cy="506224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nl-NL" sz="1800" spc="15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nl-NL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nl-NL" b="1" dirty="0"/>
              <a:t>Week 1: 4 febr. 2026</a:t>
            </a:r>
            <a:endParaRPr lang="nl-NL" dirty="0"/>
          </a:p>
          <a:p>
            <a:pPr lvl="0"/>
            <a:r>
              <a:rPr lang="en-US" dirty="0"/>
              <a:t>Kick-off – Kees van Montfort</a:t>
            </a:r>
            <a:endParaRPr lang="nl-NL" dirty="0"/>
          </a:p>
          <a:p>
            <a:pPr lvl="0"/>
            <a:r>
              <a:rPr lang="en-US" dirty="0" err="1"/>
              <a:t>Introductie</a:t>
            </a:r>
            <a:r>
              <a:rPr lang="en-US" dirty="0"/>
              <a:t> Anti Money Laundering (AML) detection – Kees van Montfort</a:t>
            </a:r>
            <a:endParaRPr lang="nl-NL" dirty="0"/>
          </a:p>
          <a:p>
            <a:pPr lvl="0"/>
            <a:r>
              <a:rPr lang="nl-NL" dirty="0"/>
              <a:t>Introductie opstellen onderzoeksplan voor afstudeerproject – Gert de Jong</a:t>
            </a:r>
          </a:p>
          <a:p>
            <a:pPr lvl="0"/>
            <a:r>
              <a:rPr lang="nl-NL" dirty="0"/>
              <a:t>Bespreking onderzoeksvoorstellen – Gert de Jong en Kees van Montfort</a:t>
            </a:r>
          </a:p>
          <a:p>
            <a:r>
              <a:rPr lang="nl-NL" dirty="0"/>
              <a:t> </a:t>
            </a:r>
          </a:p>
          <a:p>
            <a:pPr marL="0" indent="0">
              <a:spcBef>
                <a:spcPts val="0"/>
              </a:spcBef>
            </a:pP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238634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9F5C-A699-C11B-4FDD-D6AE3D57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A427C1C-5065-1892-129C-420F78D2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Programma</a:t>
            </a:r>
            <a:r>
              <a:rPr lang="nl-NL" dirty="0"/>
              <a:t> 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CD384D7-5287-70A0-506F-3E3F0CDE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BBD7444-8381-9DCC-1558-EF2C72046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59568"/>
            <a:ext cx="8229600" cy="506224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nl-NL" sz="1800" spc="15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nl-NL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nl-NL" dirty="0"/>
              <a:t> </a:t>
            </a:r>
            <a:r>
              <a:rPr lang="en-US" b="1" dirty="0"/>
              <a:t>Week 2: 11 </a:t>
            </a:r>
            <a:r>
              <a:rPr lang="en-US" b="1" dirty="0" err="1"/>
              <a:t>febr</a:t>
            </a:r>
            <a:r>
              <a:rPr lang="en-US" b="1" dirty="0"/>
              <a:t>. 2026</a:t>
            </a:r>
            <a:endParaRPr lang="nl-NL" dirty="0"/>
          </a:p>
          <a:p>
            <a:pPr lvl="0"/>
            <a:r>
              <a:rPr lang="nl-NL" dirty="0"/>
              <a:t>Introductie bibliotheekgebruik/literatuuronderzoek – Femke van </a:t>
            </a:r>
            <a:r>
              <a:rPr lang="nl-NL" dirty="0" err="1"/>
              <a:t>Kasteele</a:t>
            </a:r>
            <a:endParaRPr lang="nl-NL" dirty="0"/>
          </a:p>
          <a:p>
            <a:pPr lvl="0"/>
            <a:r>
              <a:rPr lang="nl-NL" dirty="0"/>
              <a:t>Voorgangsbespreking opstellen onderzoeksplan voor afstudeerproject – Gert de Jong</a:t>
            </a:r>
          </a:p>
          <a:p>
            <a:pPr lvl="0"/>
            <a:r>
              <a:rPr lang="nl-NL" dirty="0"/>
              <a:t>Introductie Credit Risk Management– Kees van Montfort</a:t>
            </a:r>
          </a:p>
          <a:p>
            <a:r>
              <a:rPr lang="nl-NL" dirty="0"/>
              <a:t> </a:t>
            </a:r>
          </a:p>
          <a:p>
            <a:r>
              <a:rPr lang="nl-NL" b="1" dirty="0"/>
              <a:t>Week 3: 19 febr. 2026</a:t>
            </a:r>
            <a:endParaRPr lang="nl-NL" dirty="0"/>
          </a:p>
          <a:p>
            <a:pPr lvl="0"/>
            <a:r>
              <a:rPr lang="nl-NL" dirty="0"/>
              <a:t>Voorgangsbespreking opstellen onderzoeksplan voor afstudeerproject – Gert de Jong</a:t>
            </a:r>
          </a:p>
          <a:p>
            <a:pPr lvl="0"/>
            <a:r>
              <a:rPr lang="nl-NL" dirty="0"/>
              <a:t>Introductie Credit Risk – Gilles </a:t>
            </a:r>
            <a:r>
              <a:rPr lang="nl-NL" dirty="0" err="1"/>
              <a:t>Verbockhoven</a:t>
            </a:r>
            <a:r>
              <a:rPr lang="nl-NL" dirty="0"/>
              <a:t> – ING</a:t>
            </a:r>
          </a:p>
          <a:p>
            <a:pPr marL="0" indent="0">
              <a:spcBef>
                <a:spcPts val="0"/>
              </a:spcBef>
            </a:pP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2458504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0D2D-3DD7-FEC0-DE6A-465F999DD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B999E6-7F3A-BFB7-02CB-252F0C94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Programma</a:t>
            </a:r>
            <a:r>
              <a:rPr lang="nl-NL" dirty="0"/>
              <a:t> 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A65D465-756A-B54F-B7F3-1C6DFB51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C96C-E207-3045-87EB-0DA2E1373F9B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FF0BC0-070A-C85B-FE0C-FF8A899F5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59568"/>
            <a:ext cx="8229600" cy="506224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nl-NL" sz="1800" spc="15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r>
              <a:rPr lang="nl-NL" b="1" dirty="0"/>
              <a:t>Week 4, 5 en 6: 4, 11 en 18 maart 2026</a:t>
            </a:r>
            <a:endParaRPr lang="nl-NL" dirty="0"/>
          </a:p>
          <a:p>
            <a:pPr lvl="0"/>
            <a:r>
              <a:rPr lang="nl-NL" dirty="0"/>
              <a:t>Voorgangsbespreking opstellen onderzoeksplan voor afstudeerproject – Gert de Jong</a:t>
            </a:r>
          </a:p>
          <a:p>
            <a:pPr lvl="0"/>
            <a:r>
              <a:rPr lang="nl-NL" dirty="0"/>
              <a:t>In week 4, 5 en 6 zijn er gastcolleges van respectievelijk de ING, ABN AMRO en </a:t>
            </a:r>
            <a:r>
              <a:rPr lang="nl-NL" dirty="0" err="1"/>
              <a:t>eY</a:t>
            </a:r>
            <a:r>
              <a:rPr lang="nl-NL" dirty="0"/>
              <a:t>, waarin wordt verteld hoe zij in hun organisatie AI inzetten en verder ontwikkelen. Deze gastcolleges zijn samen met de studenten van de </a:t>
            </a:r>
            <a:r>
              <a:rPr lang="nl-NL" dirty="0" err="1"/>
              <a:t>FinTech</a:t>
            </a:r>
            <a:r>
              <a:rPr lang="nl-NL" dirty="0"/>
              <a:t> track van de MSc-opleiding Digital </a:t>
            </a:r>
            <a:r>
              <a:rPr lang="nl-NL" dirty="0" err="1"/>
              <a:t>Driven</a:t>
            </a:r>
            <a:r>
              <a:rPr lang="nl-NL" dirty="0"/>
              <a:t> Business. </a:t>
            </a:r>
          </a:p>
          <a:p>
            <a:r>
              <a:rPr lang="nl-NL" dirty="0"/>
              <a:t> </a:t>
            </a:r>
          </a:p>
          <a:p>
            <a:r>
              <a:rPr lang="nl-NL" b="1" dirty="0"/>
              <a:t>Week 7 – 25 maart 2026</a:t>
            </a:r>
            <a:endParaRPr lang="nl-NL" dirty="0"/>
          </a:p>
          <a:p>
            <a:pPr lvl="0"/>
            <a:r>
              <a:rPr lang="nl-NL" dirty="0"/>
              <a:t>Uitloopweek</a:t>
            </a:r>
          </a:p>
          <a:p>
            <a:r>
              <a:rPr lang="nl-NL" dirty="0"/>
              <a:t>Vanaf week 2 is de docentbegeleider van de afstudeerscripties, namelijk Michiel Bontenbal, aanwezig bij de wekelijkse bijeenkomsten. </a:t>
            </a:r>
          </a:p>
          <a:p>
            <a:pPr marL="0" indent="0">
              <a:spcBef>
                <a:spcPts val="0"/>
              </a:spcBef>
            </a:pP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2257127467"/>
      </p:ext>
    </p:extLst>
  </p:cSld>
  <p:clrMapOvr>
    <a:masterClrMapping/>
  </p:clrMapOvr>
</p:sld>
</file>

<file path=ppt/theme/theme1.xml><?xml version="1.0" encoding="utf-8"?>
<a:theme xmlns:a="http://schemas.openxmlformats.org/drawingml/2006/main" name="HvA presentatie MP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HvA presentatie MP</Template>
  <TotalTime>4977</TotalTime>
  <Words>319</Words>
  <Application>Microsoft Office PowerPoint</Application>
  <PresentationFormat>On-screen Show (4:3)</PresentationFormat>
  <Paragraphs>56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HvA presentatie MP</vt:lpstr>
      <vt:lpstr>Financial Innovation Lab  Kick-off </vt:lpstr>
      <vt:lpstr>Opzet </vt:lpstr>
      <vt:lpstr>Programma </vt:lpstr>
      <vt:lpstr>Programma </vt:lpstr>
      <vt:lpstr>Programma </vt:lpstr>
    </vt:vector>
  </TitlesOfParts>
  <Company>Hogeschool van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pelmm</dc:creator>
  <cp:lastModifiedBy>Kees van Montfort</cp:lastModifiedBy>
  <cp:revision>565</cp:revision>
  <dcterms:created xsi:type="dcterms:W3CDTF">2011-11-06T11:30:02Z</dcterms:created>
  <dcterms:modified xsi:type="dcterms:W3CDTF">2026-02-03T13:09:06Z</dcterms:modified>
</cp:coreProperties>
</file>